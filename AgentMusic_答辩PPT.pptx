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B9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51" y="17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98480" y="-502920"/>
            <a:ext cx="2240280" cy="224028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5806440"/>
            <a:ext cx="1645920" cy="1645920"/>
          </a:xfrm>
          <a:prstGeom prst="ellipse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903843"/>
            <a:ext cx="5486400" cy="948721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0" b="1" dirty="0" err="1">
                <a:solidFill>
                  <a:srgbClr val="FFFFFF"/>
                </a:solidFill>
                <a:latin typeface="Aptos"/>
              </a:rPr>
              <a:t>AgentMusic</a:t>
            </a:r>
            <a:endParaRPr sz="6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9808" y="3608724"/>
            <a:ext cx="6858000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1DB954"/>
                </a:solidFill>
                <a:latin typeface="Noto Sans CJK SC"/>
              </a:rPr>
              <a:t>面向音乐场景的 AI Agent Web 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4111644"/>
            <a:ext cx="6400800" cy="49377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>
                <a:solidFill>
                  <a:srgbClr val="B3B3B3"/>
                </a:solidFill>
                <a:latin typeface="Noto Sans CJK SC"/>
              </a:rPr>
              <a:t>从自然语言意图理解，到音乐工具调用、播放队列生成与推荐历史沉淀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4631907"/>
            <a:ext cx="1417320" cy="310896"/>
          </a:xfrm>
          <a:prstGeom prst="round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4695915"/>
            <a:ext cx="1307592" cy="14630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ED760"/>
                </a:solidFill>
                <a:latin typeface="Noto Sans CJK SC"/>
              </a:rPr>
              <a:t>课程项目答辩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4631907"/>
            <a:ext cx="2148840" cy="310896"/>
          </a:xfrm>
          <a:prstGeom prst="round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86584" y="4695915"/>
            <a:ext cx="2039112" cy="14630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ED760"/>
                </a:solidFill>
                <a:latin typeface="Noto Sans CJK SC"/>
              </a:rPr>
              <a:t>React + Express + SQLite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4631907"/>
            <a:ext cx="1417320" cy="310896"/>
          </a:xfrm>
          <a:prstGeom prst="round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72583" y="4695915"/>
            <a:ext cx="1307592" cy="14630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ED760"/>
                </a:solidFill>
                <a:latin typeface="Noto Sans CJK SC"/>
              </a:rPr>
              <a:t>Provider 扩展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91088" y="6473952"/>
            <a:ext cx="59436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282"/>
                </a:solidFill>
                <a:latin typeface="Aptos"/>
              </a:rPr>
              <a:t>1/14</a:t>
            </a:r>
          </a:p>
        </p:txBody>
      </p:sp>
      <p:pic>
        <p:nvPicPr>
          <p:cNvPr id="16" name="Picture 22" descr="app-icon.png">
            <a:extLst>
              <a:ext uri="{FF2B5EF4-FFF2-40B4-BE49-F238E27FC236}">
                <a16:creationId xmlns:a16="http://schemas.microsoft.com/office/drawing/2014/main" id="{991818B4-932C-4083-886D-EE3B39378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754880"/>
            <a:ext cx="132588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98480" y="-502920"/>
            <a:ext cx="2240280" cy="224028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5806440"/>
            <a:ext cx="1645920" cy="1645920"/>
          </a:xfrm>
          <a:prstGeom prst="ellipse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338328"/>
            <a:ext cx="210312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ED760"/>
                </a:solidFill>
                <a:latin typeface="Aptos"/>
              </a:rPr>
              <a:t>01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21792"/>
            <a:ext cx="8961120" cy="4572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Noto Sans CJK SC"/>
              </a:rPr>
              <a:t>选题背景：音乐推荐不是只有“找歌”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69848"/>
            <a:ext cx="978408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3B3B3"/>
                </a:solidFill>
                <a:latin typeface="Noto Sans CJK SC"/>
              </a:rPr>
              <a:t>核心矛盾在于：用户表达的是场景化意图，而应用暴露的是分散的功能入口。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1920240" cy="2286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365760"/>
            <a:ext cx="64008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282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83080"/>
            <a:ext cx="10469880" cy="86868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783080"/>
            <a:ext cx="54864" cy="86868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929384"/>
            <a:ext cx="9921240" cy="66751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80" b="1">
                <a:solidFill>
                  <a:srgbClr val="FFFFFF"/>
                </a:solidFill>
                <a:latin typeface="Noto Sans CJK SC"/>
              </a:rPr>
              <a:t>用户真正想要的是：用一句话表达当前心情、场景和限制条件，并让系统直接生成可播放、可保存、可反馈的结果。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54680"/>
            <a:ext cx="3200400" cy="141732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69848" y="3355848"/>
            <a:ext cx="237744" cy="237744"/>
          </a:xfrm>
          <a:prstGeom prst="ellipse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17319" y="3310128"/>
            <a:ext cx="2487168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FFFFFF"/>
                </a:solidFill>
                <a:latin typeface="Noto Sans CJK SC"/>
              </a:rPr>
              <a:t>即时偏好复杂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685032"/>
            <a:ext cx="2788920" cy="7589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B3B3B3"/>
                </a:solidFill>
                <a:latin typeface="Noto Sans CJK SC"/>
              </a:rPr>
              <a:t>“晚上写代码、轻电子、低人声、不要太吵”这类请求包含场景、风格、强度和排除条件。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520440"/>
            <a:ext cx="3200400" cy="141732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681728" y="3721608"/>
            <a:ext cx="237744" cy="237744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0" y="3675888"/>
            <a:ext cx="2487168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FFFFFF"/>
                </a:solidFill>
                <a:latin typeface="Noto Sans CJK SC"/>
              </a:rPr>
              <a:t>操作链路分散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4050791"/>
            <a:ext cx="2788920" cy="7589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B3B3B3"/>
                </a:solidFill>
                <a:latin typeface="Noto Sans CJK SC"/>
              </a:rPr>
              <a:t>搜索、加入队列、保存歌单、查看歌手、反馈推荐结果，通常需要跨页面完成。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886200"/>
            <a:ext cx="3200400" cy="141732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93608" y="4087368"/>
            <a:ext cx="237744" cy="23774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41080" y="4041648"/>
            <a:ext cx="2487168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FFFFFF"/>
                </a:solidFill>
                <a:latin typeface="Noto Sans CJK SC"/>
              </a:rPr>
              <a:t>历史难以沉淀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4416552"/>
            <a:ext cx="2788920" cy="7589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B3B3B3"/>
                </a:solidFill>
                <a:latin typeface="Noto Sans CJK SC"/>
              </a:rPr>
              <a:t>用户希望保留不同时期的推荐版本，并根据点赞 / 点踩继续迭代。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069080" y="3867912"/>
            <a:ext cx="365760" cy="201168"/>
          </a:xfrm>
          <a:prstGeom prst="line">
            <a:avLst/>
          </a:prstGeom>
          <a:ln w="254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680960" y="4233672"/>
            <a:ext cx="365760" cy="201168"/>
          </a:xfrm>
          <a:prstGeom prst="line">
            <a:avLst/>
          </a:prstGeom>
          <a:ln w="254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6473952"/>
            <a:ext cx="292608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828282"/>
                </a:solidFill>
                <a:latin typeface="Noto Sans CJK SC"/>
              </a:rPr>
              <a:t>AgentMusic 课程项目答辩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91088" y="6473952"/>
            <a:ext cx="59436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282"/>
                </a:solidFill>
                <a:latin typeface="Aptos"/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98480" y="-502920"/>
            <a:ext cx="2240280" cy="224028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5806440"/>
            <a:ext cx="1645920" cy="1645920"/>
          </a:xfrm>
          <a:prstGeom prst="ellipse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338328"/>
            <a:ext cx="210312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ED760"/>
                </a:solidFill>
                <a:latin typeface="Aptos"/>
              </a:rPr>
              <a:t>02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21792"/>
            <a:ext cx="8961120" cy="4572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Noto Sans CJK SC"/>
              </a:rPr>
              <a:t>产品定位：站内核心 + 外部 Provider 增强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69848"/>
            <a:ext cx="978408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3B3B3"/>
                </a:solidFill>
                <a:latin typeface="Noto Sans CJK SC"/>
              </a:rPr>
              <a:t>避免把 Spotify 当成唯一入口，使系统在未绑定外部账号时也能独立运行。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1920240" cy="2286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365760"/>
            <a:ext cx="64008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282"/>
                </a:solidFill>
                <a:latin typeface="Aptos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2926080"/>
            <a:ext cx="9875520" cy="54864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417320" y="2487168"/>
            <a:ext cx="868680" cy="868680"/>
          </a:xfrm>
          <a:prstGeom prst="ellipse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17320" y="2697480"/>
            <a:ext cx="868680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121212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520440"/>
            <a:ext cx="1417320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Noto Sans CJK SC"/>
              </a:rPr>
              <a:t>游客模式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950208"/>
            <a:ext cx="1874519" cy="9144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B3B3B3"/>
                </a:solidFill>
                <a:latin typeface="Noto Sans CJK SC"/>
              </a:rPr>
              <a:t>公开目录
通用推荐
预览试听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0" y="2487168"/>
            <a:ext cx="868680" cy="86868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0" y="2697480"/>
            <a:ext cx="868680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121212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520440"/>
            <a:ext cx="1417320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Noto Sans CJK SC"/>
              </a:rPr>
              <a:t>站内账号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3950208"/>
            <a:ext cx="1874519" cy="9144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B3B3B3"/>
                </a:solidFill>
                <a:latin typeface="Noto Sans CJK SC"/>
              </a:rPr>
              <a:t>歌单收藏
会话记忆
本地音频</a:t>
            </a:r>
          </a:p>
        </p:txBody>
      </p:sp>
      <p:sp>
        <p:nvSpPr>
          <p:cNvPr id="18" name="Oval 17"/>
          <p:cNvSpPr/>
          <p:nvPr/>
        </p:nvSpPr>
        <p:spPr>
          <a:xfrm>
            <a:off x="8641080" y="2487168"/>
            <a:ext cx="868680" cy="8686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41080" y="2697480"/>
            <a:ext cx="868680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121212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9" y="3520440"/>
            <a:ext cx="1417320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Noto Sans CJK SC"/>
              </a:rPr>
              <a:t>Spotify 增强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3950208"/>
            <a:ext cx="1874519" cy="9144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B3B3B3"/>
                </a:solidFill>
                <a:latin typeface="Noto Sans CJK SC"/>
              </a:rPr>
              <a:t>歌单导入
画像增强
用户态能力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07008" y="5376672"/>
            <a:ext cx="9738360" cy="658368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207008" y="5376672"/>
            <a:ext cx="54864" cy="658368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81328" y="5522976"/>
            <a:ext cx="9189720" cy="4572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80" b="1">
                <a:solidFill>
                  <a:srgbClr val="FFFFFF"/>
                </a:solidFill>
                <a:latin typeface="Noto Sans CJK SC"/>
              </a:rPr>
              <a:t>设计原则：先让 AgentMusic 自己拥有账号、数据与推荐闭环，再把 Spotify 做成可插拔增强源。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292608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828282"/>
                </a:solidFill>
                <a:latin typeface="Noto Sans CJK SC"/>
              </a:rPr>
              <a:t>AgentMusic 课程项目答辩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91088" y="6473952"/>
            <a:ext cx="59436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282"/>
                </a:solidFill>
                <a:latin typeface="Aptos"/>
              </a:rP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98480" y="-502920"/>
            <a:ext cx="2240280" cy="224028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5806440"/>
            <a:ext cx="1645920" cy="1645920"/>
          </a:xfrm>
          <a:prstGeom prst="ellipse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338328"/>
            <a:ext cx="210312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ED760"/>
                </a:solidFill>
                <a:latin typeface="Aptos"/>
              </a:rPr>
              <a:t>03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21792"/>
            <a:ext cx="8961120" cy="4572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Noto Sans CJK SC"/>
              </a:rPr>
              <a:t>系统架构：前端交互、后端编排、Provider 适配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69848"/>
            <a:ext cx="978408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3B3B3"/>
                </a:solidFill>
                <a:latin typeface="Noto Sans CJK SC"/>
              </a:rPr>
              <a:t>架构重点不是“多接几个接口”，而是把身份、数据、工具调用和播放动作分层。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1920240" cy="2286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365760"/>
            <a:ext cx="64008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282"/>
                </a:solidFill>
                <a:latin typeface="Aptos"/>
              </a:rPr>
              <a:t>04</a:t>
            </a:r>
          </a:p>
        </p:txBody>
      </p:sp>
      <p:pic>
        <p:nvPicPr>
          <p:cNvPr id="9" name="Picture 8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591056"/>
            <a:ext cx="10789920" cy="47783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473952"/>
            <a:ext cx="292608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828282"/>
                </a:solidFill>
                <a:latin typeface="Noto Sans CJK SC"/>
              </a:rPr>
              <a:t>AgentMusic 课程项目答辩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91088" y="6473952"/>
            <a:ext cx="59436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282"/>
                </a:solidFill>
                <a:latin typeface="Aptos"/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98480" y="-502920"/>
            <a:ext cx="2240280" cy="224028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5806440"/>
            <a:ext cx="1645920" cy="1645920"/>
          </a:xfrm>
          <a:prstGeom prst="ellipse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338328"/>
            <a:ext cx="210312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ED760"/>
                </a:solidFill>
                <a:latin typeface="Aptos"/>
              </a:rPr>
              <a:t>04 AGENT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21792"/>
            <a:ext cx="8961120" cy="4572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Noto Sans CJK SC"/>
              </a:rPr>
              <a:t>Agent 主流程：从一句话到播放队列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69848"/>
            <a:ext cx="978408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3B3B3"/>
                </a:solidFill>
                <a:latin typeface="Noto Sans CJK SC"/>
              </a:rPr>
              <a:t>规则识别与 LLM Planner 结合，最终输出结构化动作，而不是只返回聊天文本。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1920240" cy="2286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365760"/>
            <a:ext cx="64008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282"/>
                </a:solidFill>
                <a:latin typeface="Aptos"/>
              </a:rPr>
              <a:t>05</a:t>
            </a:r>
          </a:p>
        </p:txBody>
      </p:sp>
      <p:pic>
        <p:nvPicPr>
          <p:cNvPr id="9" name="Picture 8" descr="agen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27632"/>
            <a:ext cx="10789920" cy="43159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17320" y="5705856"/>
            <a:ext cx="93268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B3B3B3"/>
                </a:solidFill>
                <a:latin typeface="Noto Sans CJK SC"/>
              </a:rPr>
              <a:t>输出结果包含：reply、intent、confidence、actions、artifacts、toolCalls、memoryProfile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292608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828282"/>
                </a:solidFill>
                <a:latin typeface="Noto Sans CJK SC"/>
              </a:rPr>
              <a:t>AgentMusic 课程项目答辩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91088" y="6473952"/>
            <a:ext cx="59436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282"/>
                </a:solidFill>
                <a:latin typeface="Aptos"/>
              </a:rP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98480" y="-502920"/>
            <a:ext cx="2240280" cy="224028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5806440"/>
            <a:ext cx="1645920" cy="1645920"/>
          </a:xfrm>
          <a:prstGeom prst="ellipse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338328"/>
            <a:ext cx="210312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ED760"/>
                </a:solidFill>
                <a:latin typeface="Aptos"/>
              </a:rPr>
              <a:t>05 AGENT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21792"/>
            <a:ext cx="8961120" cy="4572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Noto Sans CJK SC"/>
              </a:rPr>
              <a:t>Agent 工作流详解：接口、Planner、工具与写回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69848"/>
            <a:ext cx="978408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3B3B3"/>
                </a:solidFill>
                <a:latin typeface="Noto Sans CJK SC"/>
              </a:rPr>
              <a:t>这页对应后端 /api/agent/chat 的真实处理链路，用于答辩时解释“Agent 到底怎么工作”。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1920240" cy="2286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365760"/>
            <a:ext cx="64008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282"/>
                </a:solidFill>
                <a:latin typeface="Aptos"/>
              </a:rPr>
              <a:t>06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847088"/>
            <a:ext cx="530352" cy="530352"/>
          </a:xfrm>
          <a:prstGeom prst="ellipse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993392"/>
            <a:ext cx="530352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21212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59" y="2542032"/>
            <a:ext cx="1371600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60" b="1">
                <a:solidFill>
                  <a:srgbClr val="FFFFFF"/>
                </a:solidFill>
                <a:latin typeface="Noto Sans CJK SC"/>
              </a:rPr>
              <a:t>接口入口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80360"/>
            <a:ext cx="1792224" cy="6583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960" b="0">
                <a:solidFill>
                  <a:srgbClr val="B3B3B3"/>
                </a:solidFill>
                <a:latin typeface="Noto Sans CJK SC"/>
              </a:rPr>
              <a:t>POST /api/agent/chat
校验 message 与 context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80744" y="2112264"/>
            <a:ext cx="1133856" cy="0"/>
          </a:xfrm>
          <a:prstGeom prst="line">
            <a:avLst/>
          </a:prstGeom>
          <a:ln w="1651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606040" y="1847088"/>
            <a:ext cx="530352" cy="530352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06040" y="1993392"/>
            <a:ext cx="530352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21212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542032"/>
            <a:ext cx="1371600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60" b="1">
                <a:solidFill>
                  <a:srgbClr val="FFFFFF"/>
                </a:solidFill>
                <a:latin typeface="Noto Sans CJK SC"/>
              </a:rPr>
              <a:t>模式解析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4248" y="2880360"/>
            <a:ext cx="1792224" cy="6583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960" b="0">
                <a:solidFill>
                  <a:srgbClr val="B3B3B3"/>
                </a:solidFill>
                <a:latin typeface="Noto Sans CJK SC"/>
              </a:rPr>
              <a:t>guest / local_user / spotify_enhanced
读取用户与 Provider 绑定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09544" y="2112264"/>
            <a:ext cx="1133856" cy="0"/>
          </a:xfrm>
          <a:prstGeom prst="line">
            <a:avLst/>
          </a:prstGeom>
          <a:ln w="1651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434840" y="1847088"/>
            <a:ext cx="530352" cy="530352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34840" y="1993392"/>
            <a:ext cx="530352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21212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59" y="2542032"/>
            <a:ext cx="1371600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60" b="1">
                <a:solidFill>
                  <a:srgbClr val="FFFFFF"/>
                </a:solidFill>
                <a:latin typeface="Noto Sans CJK SC"/>
              </a:rPr>
              <a:t>会话装载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3048" y="2880360"/>
            <a:ext cx="1792224" cy="6583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960" b="0">
                <a:solidFill>
                  <a:srgbClr val="B3B3B3"/>
                </a:solidFill>
                <a:latin typeface="Noto Sans CJK SC"/>
              </a:rPr>
              <a:t>获取或创建 conversation
保留 currentTrack 与播放状态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38344" y="2112264"/>
            <a:ext cx="1133856" cy="0"/>
          </a:xfrm>
          <a:prstGeom prst="line">
            <a:avLst/>
          </a:prstGeom>
          <a:ln w="1651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263640" y="1847088"/>
            <a:ext cx="530352" cy="530352"/>
          </a:xfrm>
          <a:prstGeom prst="ellipse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63640" y="1993392"/>
            <a:ext cx="530352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21212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59" y="2542032"/>
            <a:ext cx="1371600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60" b="1">
                <a:solidFill>
                  <a:srgbClr val="FFFFFF"/>
                </a:solidFill>
                <a:latin typeface="Noto Sans CJK SC"/>
              </a:rPr>
              <a:t>Agent 编排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41848" y="2880360"/>
            <a:ext cx="1792224" cy="6583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960" b="0">
                <a:solidFill>
                  <a:srgbClr val="B3B3B3"/>
                </a:solidFill>
                <a:latin typeface="Noto Sans CJK SC"/>
              </a:rPr>
              <a:t>runAgent 创建 toolRegistry
DeepSeek Planner 优先，失败走规则兜底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67144" y="2112264"/>
            <a:ext cx="1133856" cy="0"/>
          </a:xfrm>
          <a:prstGeom prst="line">
            <a:avLst/>
          </a:prstGeom>
          <a:ln w="1651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092440" y="1847088"/>
            <a:ext cx="530352" cy="530352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92440" y="1993392"/>
            <a:ext cx="530352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21212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2542032"/>
            <a:ext cx="1371600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60" b="1">
                <a:solidFill>
                  <a:srgbClr val="FFFFFF"/>
                </a:solidFill>
                <a:latin typeface="Noto Sans CJK SC"/>
              </a:rPr>
              <a:t>工具执行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0648" y="2880360"/>
            <a:ext cx="1792224" cy="6583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960" b="0">
                <a:solidFill>
                  <a:srgbClr val="B3B3B3"/>
                </a:solidFill>
                <a:latin typeface="Noto Sans CJK SC"/>
              </a:rPr>
              <a:t>按 toolPlan 顺序调用
library / spotify / player / memory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695944" y="2112264"/>
            <a:ext cx="1133856" cy="0"/>
          </a:xfrm>
          <a:prstGeom prst="line">
            <a:avLst/>
          </a:prstGeom>
          <a:ln w="1651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921240" y="1847088"/>
            <a:ext cx="530352" cy="530352"/>
          </a:xfrm>
          <a:prstGeom prst="ellipse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921240" y="1993392"/>
            <a:ext cx="530352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21212"/>
                </a:solidFill>
                <a:latin typeface="Aptos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2542032"/>
            <a:ext cx="1371600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60" b="1">
                <a:solidFill>
                  <a:srgbClr val="FFFFFF"/>
                </a:solidFill>
                <a:latin typeface="Noto Sans CJK SC"/>
              </a:rPr>
              <a:t>结果写回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9448" y="2880360"/>
            <a:ext cx="1792224" cy="6583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960" b="0">
                <a:solidFill>
                  <a:srgbClr val="B3B3B3"/>
                </a:solidFill>
                <a:latin typeface="Noto Sans CJK SC"/>
              </a:rPr>
              <a:t>normalize artifacts/actions
追加消息、推荐历史与反馈闭环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4114800"/>
            <a:ext cx="3246120" cy="137160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78992" y="4325112"/>
            <a:ext cx="128016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ED760"/>
                </a:solidFill>
                <a:latin typeface="Noto Sans CJK SC"/>
              </a:rPr>
              <a:t>Planner 输入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" y="4636008"/>
            <a:ext cx="2788920" cy="6583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>
                <a:solidFill>
                  <a:srgbClr val="B3B3B3"/>
                </a:solidFill>
                <a:latin typeface="Noto Sans CJK SC"/>
              </a:rPr>
              <a:t>userMessage、currentPlaybackState、capabilities、memoryProfileSummary、recentConversationSummary、availableTools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62272" y="3977639"/>
            <a:ext cx="3337560" cy="1664208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681728" y="4187952"/>
            <a:ext cx="155448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ED760"/>
                </a:solidFill>
                <a:latin typeface="Noto Sans CJK SC"/>
              </a:rPr>
              <a:t>Planner 输出契约</a:t>
            </a:r>
          </a:p>
        </p:txBody>
      </p:sp>
      <p:sp>
        <p:nvSpPr>
          <p:cNvPr id="43" name="Oval 42"/>
          <p:cNvSpPr/>
          <p:nvPr/>
        </p:nvSpPr>
        <p:spPr>
          <a:xfrm>
            <a:off x="4709160" y="4617720"/>
            <a:ext cx="64008" cy="64008"/>
          </a:xfrm>
          <a:prstGeom prst="ellipse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873752" y="4507992"/>
            <a:ext cx="2670048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0">
                <a:solidFill>
                  <a:srgbClr val="B3B3B3"/>
                </a:solidFill>
                <a:latin typeface="Noto Sans CJK SC"/>
              </a:rPr>
              <a:t>intent：推荐、搜索、播放、建歌单等意图</a:t>
            </a:r>
          </a:p>
        </p:txBody>
      </p:sp>
      <p:sp>
        <p:nvSpPr>
          <p:cNvPr id="45" name="Oval 44"/>
          <p:cNvSpPr/>
          <p:nvPr/>
        </p:nvSpPr>
        <p:spPr>
          <a:xfrm>
            <a:off x="4709160" y="4873752"/>
            <a:ext cx="64008" cy="64008"/>
          </a:xfrm>
          <a:prstGeom prst="ellipse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873752" y="4764024"/>
            <a:ext cx="2670048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0">
                <a:solidFill>
                  <a:srgbClr val="B3B3B3"/>
                </a:solidFill>
                <a:latin typeface="Noto Sans CJK SC"/>
              </a:rPr>
              <a:t>toolPlan：要调用哪些工具及参数</a:t>
            </a:r>
          </a:p>
        </p:txBody>
      </p:sp>
      <p:sp>
        <p:nvSpPr>
          <p:cNvPr id="47" name="Oval 46"/>
          <p:cNvSpPr/>
          <p:nvPr/>
        </p:nvSpPr>
        <p:spPr>
          <a:xfrm>
            <a:off x="4709160" y="5129784"/>
            <a:ext cx="64008" cy="64008"/>
          </a:xfrm>
          <a:prstGeom prst="ellipse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873752" y="5020056"/>
            <a:ext cx="2670048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0">
                <a:solidFill>
                  <a:srgbClr val="B3B3B3"/>
                </a:solidFill>
                <a:latin typeface="Noto Sans CJK SC"/>
              </a:rPr>
              <a:t>playerActions：替换队列、播放、暂停等动作</a:t>
            </a:r>
          </a:p>
        </p:txBody>
      </p:sp>
      <p:sp>
        <p:nvSpPr>
          <p:cNvPr id="49" name="Oval 48"/>
          <p:cNvSpPr/>
          <p:nvPr/>
        </p:nvSpPr>
        <p:spPr>
          <a:xfrm>
            <a:off x="4709160" y="5385816"/>
            <a:ext cx="64008" cy="64008"/>
          </a:xfrm>
          <a:prstGeom prst="ellipse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873752" y="5276088"/>
            <a:ext cx="2670048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0">
                <a:solidFill>
                  <a:srgbClr val="B3B3B3"/>
                </a:solidFill>
                <a:latin typeface="Noto Sans CJK SC"/>
              </a:rPr>
              <a:t>memoryWriteback：需要沉淀的偏好信号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83879" y="4114800"/>
            <a:ext cx="3063240" cy="137160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94192" y="4325112"/>
            <a:ext cx="155448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ED760"/>
                </a:solidFill>
                <a:latin typeface="Noto Sans CJK SC"/>
              </a:rPr>
              <a:t>前端接收结果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94192" y="4736592"/>
            <a:ext cx="2606040" cy="4754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0">
                <a:solidFill>
                  <a:srgbClr val="B3B3B3"/>
                </a:solidFill>
                <a:latin typeface="Noto Sans CJK SC"/>
              </a:rPr>
              <a:t>reply + intent + confidence + actions + artifacts + toolCalls + sourcePlan + memoryProfile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6473952"/>
            <a:ext cx="292608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828282"/>
                </a:solidFill>
                <a:latin typeface="Noto Sans CJK SC"/>
              </a:rPr>
              <a:t>AgentMusic 课程项目答辩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91088" y="6473952"/>
            <a:ext cx="59436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282"/>
                </a:solidFill>
                <a:latin typeface="Aptos"/>
              </a:rP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98480" y="-502920"/>
            <a:ext cx="2240280" cy="224028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5806440"/>
            <a:ext cx="1645920" cy="1645920"/>
          </a:xfrm>
          <a:prstGeom prst="ellipse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338328"/>
            <a:ext cx="210312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ED760"/>
                </a:solidFill>
                <a:latin typeface="Aptos"/>
              </a:rPr>
              <a:t>06 DATA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21792"/>
            <a:ext cx="8961120" cy="38882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dirty="0" err="1">
                <a:solidFill>
                  <a:srgbClr val="FFFFFF"/>
                </a:solidFill>
                <a:latin typeface="Noto Sans CJK SC"/>
              </a:rPr>
              <a:t>数据</a:t>
            </a:r>
            <a:r>
              <a:rPr lang="zh-CN" altLang="en-US" sz="2400" b="1" dirty="0">
                <a:solidFill>
                  <a:srgbClr val="FFFFFF"/>
                </a:solidFill>
                <a:latin typeface="Noto Sans CJK SC"/>
              </a:rPr>
              <a:t>设计</a:t>
            </a:r>
            <a:r>
              <a:rPr sz="2400" b="1" dirty="0">
                <a:solidFill>
                  <a:srgbClr val="FFFFFF"/>
                </a:solidFill>
                <a:latin typeface="Noto Sans CJK SC"/>
              </a:rPr>
              <a:t>：</a:t>
            </a:r>
            <a:r>
              <a:rPr sz="2400" b="1" dirty="0" err="1">
                <a:solidFill>
                  <a:srgbClr val="FFFFFF"/>
                </a:solidFill>
                <a:latin typeface="Noto Sans CJK SC"/>
              </a:rPr>
              <a:t>围绕站内</a:t>
            </a:r>
            <a:r>
              <a:rPr sz="2400" b="1" dirty="0">
                <a:solidFill>
                  <a:srgbClr val="FFFFFF"/>
                </a:solidFill>
                <a:latin typeface="Noto Sans CJK SC"/>
              </a:rPr>
              <a:t> User ID </a:t>
            </a:r>
            <a:r>
              <a:rPr sz="2400" b="1" dirty="0" err="1">
                <a:solidFill>
                  <a:srgbClr val="FFFFFF"/>
                </a:solidFill>
                <a:latin typeface="Noto Sans CJK SC"/>
              </a:rPr>
              <a:t>建模</a:t>
            </a:r>
            <a:endParaRPr sz="2400" b="1" dirty="0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1920240" cy="2286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365760"/>
            <a:ext cx="64008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282"/>
                </a:solidFill>
                <a:latin typeface="Aptos"/>
              </a:rPr>
              <a:t>07</a:t>
            </a:r>
          </a:p>
        </p:txBody>
      </p:sp>
      <p:pic>
        <p:nvPicPr>
          <p:cNvPr id="9" name="Picture 8" descr="data_rad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52" y="1536192"/>
            <a:ext cx="9738360" cy="5031486"/>
          </a:xfrm>
          <a:prstGeom prst="rect">
            <a:avLst/>
          </a:prstGeom>
        </p:spPr>
      </p:pic>
      <p:sp>
        <p:nvSpPr>
          <p:cNvPr id="15" name="椭圆 14">
            <a:extLst>
              <a:ext uri="{FF2B5EF4-FFF2-40B4-BE49-F238E27FC236}">
                <a16:creationId xmlns:a16="http://schemas.microsoft.com/office/drawing/2014/main" id="{61DAA161-E463-414E-B49A-734313ABD903}"/>
              </a:ext>
            </a:extLst>
          </p:cNvPr>
          <p:cNvSpPr/>
          <p:nvPr/>
        </p:nvSpPr>
        <p:spPr>
          <a:xfrm>
            <a:off x="5235059" y="3126927"/>
            <a:ext cx="1709270" cy="1678484"/>
          </a:xfrm>
          <a:prstGeom prst="ellipse">
            <a:avLst/>
          </a:prstGeom>
          <a:solidFill>
            <a:srgbClr val="1DB954"/>
          </a:solidFill>
          <a:ln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UserId</a:t>
            </a:r>
            <a:br>
              <a:rPr lang="en-US" altLang="zh-CN" dirty="0"/>
            </a:br>
            <a:r>
              <a:rPr lang="zh-CN" altLang="en-US" dirty="0"/>
              <a:t>站内核心身份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98480" y="-502920"/>
            <a:ext cx="2240280" cy="224028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5806440"/>
            <a:ext cx="1645920" cy="1645920"/>
          </a:xfrm>
          <a:prstGeom prst="ellipse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338328"/>
            <a:ext cx="210312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ED760"/>
                </a:solidFill>
                <a:latin typeface="Aptos"/>
              </a:rPr>
              <a:t>07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21792"/>
            <a:ext cx="8961120" cy="4572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Noto Sans CJK SC"/>
              </a:rPr>
              <a:t>后端实现：Express 路由 + Service 分层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1920240" cy="2286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365760"/>
            <a:ext cx="64008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282"/>
                </a:solidFill>
                <a:latin typeface="Aptos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97280" cy="2377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ED760"/>
                </a:solidFill>
                <a:latin typeface="Noto Sans CJK SC"/>
              </a:rPr>
              <a:t>接口入口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196596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DB954"/>
                </a:solidFill>
                <a:latin typeface="Aptos"/>
              </a:rPr>
              <a:t>/api/local-auth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240280"/>
            <a:ext cx="278892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3B3B3"/>
                </a:solidFill>
                <a:latin typeface="Noto Sans CJK SC"/>
              </a:rPr>
              <a:t>站内注册 / 登录 / 会话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65960" y="2542032"/>
            <a:ext cx="0" cy="201168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60120" y="2834640"/>
            <a:ext cx="196596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DB954"/>
                </a:solidFill>
                <a:latin typeface="Aptos"/>
              </a:rPr>
              <a:t>/api/catalog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834640"/>
            <a:ext cx="278892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3B3B3"/>
                </a:solidFill>
                <a:latin typeface="Noto Sans CJK SC"/>
              </a:rPr>
              <a:t>公开目录与搜索聚合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65960" y="3136392"/>
            <a:ext cx="0" cy="201168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60120" y="3429000"/>
            <a:ext cx="196596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DB954"/>
                </a:solidFill>
                <a:latin typeface="Aptos"/>
              </a:rPr>
              <a:t>/api/library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429000"/>
            <a:ext cx="278892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3B3B3"/>
                </a:solidFill>
                <a:latin typeface="Noto Sans CJK SC"/>
              </a:rPr>
              <a:t>站内歌单、收藏、本地音频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65960" y="3730752"/>
            <a:ext cx="0" cy="201168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60120" y="4023360"/>
            <a:ext cx="196596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DB954"/>
                </a:solidFill>
                <a:latin typeface="Aptos"/>
              </a:rPr>
              <a:t>/api/agent/chat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023360"/>
            <a:ext cx="278892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3B3B3"/>
                </a:solidFill>
                <a:latin typeface="Noto Sans CJK SC"/>
              </a:rPr>
              <a:t>意图识别、工具调用、动作返回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965960" y="4325112"/>
            <a:ext cx="0" cy="201168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60120" y="4617720"/>
            <a:ext cx="196596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DB954"/>
                </a:solidFill>
                <a:latin typeface="Aptos"/>
              </a:rPr>
              <a:t>/api/providers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617720"/>
            <a:ext cx="278892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3B3B3"/>
                </a:solidFill>
                <a:latin typeface="Noto Sans CJK SC"/>
              </a:rPr>
              <a:t>Spotify 绑定与导入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1783080"/>
            <a:ext cx="4480560" cy="361188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0" y="2057400"/>
            <a:ext cx="1828800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Noto Sans CJK SC"/>
              </a:rPr>
              <a:t>实现要点</a:t>
            </a:r>
          </a:p>
        </p:txBody>
      </p:sp>
      <p:sp>
        <p:nvSpPr>
          <p:cNvPr id="26" name="Oval 25"/>
          <p:cNvSpPr/>
          <p:nvPr/>
        </p:nvSpPr>
        <p:spPr>
          <a:xfrm>
            <a:off x="6812280" y="2715768"/>
            <a:ext cx="64008" cy="64008"/>
          </a:xfrm>
          <a:prstGeom prst="ellipse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76872" y="2606040"/>
            <a:ext cx="3630168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B3B3B3"/>
                </a:solidFill>
                <a:latin typeface="Noto Sans CJK SC"/>
              </a:rPr>
              <a:t>better-sqlite3 + WAL，保证本地开发下的数据持久化与读写稳定性</a:t>
            </a:r>
          </a:p>
        </p:txBody>
      </p:sp>
      <p:sp>
        <p:nvSpPr>
          <p:cNvPr id="28" name="Oval 27"/>
          <p:cNvSpPr/>
          <p:nvPr/>
        </p:nvSpPr>
        <p:spPr>
          <a:xfrm>
            <a:off x="6812280" y="3218688"/>
            <a:ext cx="64008" cy="64008"/>
          </a:xfrm>
          <a:prstGeom prst="ellipse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76872" y="3108960"/>
            <a:ext cx="3630168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B3B3B3"/>
                </a:solidFill>
                <a:latin typeface="Noto Sans CJK SC"/>
              </a:rPr>
              <a:t>中间件区分游客、站内用户、Spotify 增强三种模式</a:t>
            </a:r>
          </a:p>
        </p:txBody>
      </p:sp>
      <p:sp>
        <p:nvSpPr>
          <p:cNvPr id="30" name="Oval 29"/>
          <p:cNvSpPr/>
          <p:nvPr/>
        </p:nvSpPr>
        <p:spPr>
          <a:xfrm>
            <a:off x="6812280" y="3721608"/>
            <a:ext cx="64008" cy="64008"/>
          </a:xfrm>
          <a:prstGeom prst="ellipse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76872" y="3611880"/>
            <a:ext cx="3630168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B3B3B3"/>
                </a:solidFill>
                <a:latin typeface="Noto Sans CJK SC"/>
              </a:rPr>
              <a:t>Agent 返回结构化 actions，前端可直接替换队列或触发播放</a:t>
            </a:r>
          </a:p>
        </p:txBody>
      </p:sp>
      <p:sp>
        <p:nvSpPr>
          <p:cNvPr id="32" name="Oval 31"/>
          <p:cNvSpPr/>
          <p:nvPr/>
        </p:nvSpPr>
        <p:spPr>
          <a:xfrm>
            <a:off x="6812280" y="4224528"/>
            <a:ext cx="64008" cy="64008"/>
          </a:xfrm>
          <a:prstGeom prst="ellipse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76872" y="4114800"/>
            <a:ext cx="3630168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B3B3B3"/>
                </a:solidFill>
                <a:latin typeface="Noto Sans CJK SC"/>
              </a:rPr>
              <a:t>Provider 抽象隔离外部 API，便于后续接入其他音乐源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5715000"/>
            <a:ext cx="1508760" cy="310896"/>
          </a:xfrm>
          <a:prstGeom prst="round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3544" y="5779008"/>
            <a:ext cx="1399031" cy="14630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ED760"/>
                </a:solidFill>
                <a:latin typeface="Noto Sans CJK SC"/>
              </a:rPr>
              <a:t>Express 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70632" y="5715000"/>
            <a:ext cx="1508760" cy="310896"/>
          </a:xfrm>
          <a:prstGeom prst="round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825496" y="5779008"/>
            <a:ext cx="1399031" cy="14630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ED760"/>
                </a:solidFill>
                <a:latin typeface="Noto Sans CJK SC"/>
              </a:rPr>
              <a:t>SQLite WAL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72584" y="5715000"/>
            <a:ext cx="1508760" cy="310896"/>
          </a:xfrm>
          <a:prstGeom prst="round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27448" y="5779008"/>
            <a:ext cx="1399031" cy="14630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ED760"/>
                </a:solidFill>
                <a:latin typeface="Noto Sans CJK SC"/>
              </a:rPr>
              <a:t>Multer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74536" y="5715000"/>
            <a:ext cx="1508760" cy="310896"/>
          </a:xfrm>
          <a:prstGeom prst="round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29400" y="5779008"/>
            <a:ext cx="1399031" cy="14630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ED760"/>
                </a:solidFill>
                <a:latin typeface="Noto Sans CJK SC"/>
              </a:rPr>
              <a:t>OpenAI SDK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76488" y="5715000"/>
            <a:ext cx="1508760" cy="310896"/>
          </a:xfrm>
          <a:prstGeom prst="round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31352" y="5779008"/>
            <a:ext cx="1399031" cy="14630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ED760"/>
                </a:solidFill>
                <a:latin typeface="Noto Sans CJK SC"/>
              </a:rPr>
              <a:t>Spotify API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98480" y="-502920"/>
            <a:ext cx="2240280" cy="224028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5806440"/>
            <a:ext cx="1645920" cy="1645920"/>
          </a:xfrm>
          <a:prstGeom prst="ellipse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338328"/>
            <a:ext cx="210312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ED760"/>
                </a:solidFill>
                <a:latin typeface="Aptos"/>
              </a:rPr>
              <a:t>08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21792"/>
            <a:ext cx="8961120" cy="4572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Noto Sans CJK SC"/>
              </a:rPr>
              <a:t>前端交互：围绕 Agent 工作台组织页面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1920240" cy="2286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365760"/>
            <a:ext cx="64008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282"/>
                </a:solidFill>
                <a:latin typeface="Aptos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783080"/>
            <a:ext cx="219456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Noto Sans CJK SC"/>
              </a:rPr>
              <a:t>界面结构</a:t>
            </a:r>
          </a:p>
        </p:txBody>
      </p:sp>
      <p:sp>
        <p:nvSpPr>
          <p:cNvPr id="11" name="Oval 10"/>
          <p:cNvSpPr/>
          <p:nvPr/>
        </p:nvSpPr>
        <p:spPr>
          <a:xfrm>
            <a:off x="8366760" y="2532888"/>
            <a:ext cx="64008" cy="64008"/>
          </a:xfrm>
          <a:prstGeom prst="ellipse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31352" y="2423160"/>
            <a:ext cx="2807208" cy="203645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dirty="0" err="1">
                <a:solidFill>
                  <a:srgbClr val="B3B3B3"/>
                </a:solidFill>
                <a:latin typeface="Noto Sans CJK SC"/>
              </a:rPr>
              <a:t>左侧：历史推荐和站内歌单</a:t>
            </a:r>
            <a:endParaRPr sz="1200" b="0" dirty="0">
              <a:solidFill>
                <a:srgbClr val="B3B3B3"/>
              </a:solidFill>
              <a:latin typeface="Noto Sans CJK SC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366760" y="3251164"/>
            <a:ext cx="64008" cy="64008"/>
          </a:xfrm>
          <a:prstGeom prst="ellipse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15586" y="3166031"/>
            <a:ext cx="2807208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dirty="0" err="1">
                <a:solidFill>
                  <a:srgbClr val="B3B3B3"/>
                </a:solidFill>
                <a:latin typeface="Noto Sans CJK SC"/>
              </a:rPr>
              <a:t>中间：Agent</a:t>
            </a:r>
            <a:r>
              <a:rPr sz="1200" b="0" dirty="0">
                <a:solidFill>
                  <a:srgbClr val="B3B3B3"/>
                </a:solidFill>
                <a:latin typeface="Noto Sans CJK SC"/>
              </a:rPr>
              <a:t> </a:t>
            </a:r>
            <a:r>
              <a:rPr sz="1200" b="0" dirty="0" err="1">
                <a:solidFill>
                  <a:srgbClr val="B3B3B3"/>
                </a:solidFill>
                <a:latin typeface="Noto Sans CJK SC"/>
              </a:rPr>
              <a:t>对话输入与回复，是主要操作入口</a:t>
            </a:r>
            <a:endParaRPr sz="1200" b="0" dirty="0">
              <a:solidFill>
                <a:srgbClr val="B3B3B3"/>
              </a:solidFill>
              <a:latin typeface="Noto Sans CJK SC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8366760" y="4233672"/>
            <a:ext cx="64008" cy="64008"/>
          </a:xfrm>
          <a:prstGeom prst="ellipse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31352" y="4123944"/>
            <a:ext cx="2807208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3B3B3"/>
                </a:solidFill>
                <a:latin typeface="Noto Sans CJK SC"/>
              </a:rPr>
              <a:t>底部：固定播放器，保证播放状态持续可见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8395F19-37AC-4629-B592-DDE97D5DF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56" y="1547967"/>
            <a:ext cx="7023370" cy="46033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98480" y="-502920"/>
            <a:ext cx="2240280" cy="224028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5806440"/>
            <a:ext cx="1645920" cy="1645920"/>
          </a:xfrm>
          <a:prstGeom prst="ellipse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338328"/>
            <a:ext cx="210312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ED760"/>
                </a:solidFill>
                <a:latin typeface="Aptos"/>
              </a:rPr>
              <a:t>11 VIBE 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21792"/>
            <a:ext cx="8961120" cy="4572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dirty="0" err="1">
                <a:solidFill>
                  <a:srgbClr val="FFFFFF"/>
                </a:solidFill>
                <a:latin typeface="Noto Sans CJK SC"/>
              </a:rPr>
              <a:t>开发方法：网页</a:t>
            </a:r>
            <a:r>
              <a:rPr sz="2400" b="1" dirty="0">
                <a:solidFill>
                  <a:srgbClr val="FFFFFF"/>
                </a:solidFill>
                <a:latin typeface="Noto Sans CJK SC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CJK SC"/>
              </a:rPr>
              <a:t>ChatGPT</a:t>
            </a:r>
            <a:r>
              <a:rPr sz="2400" b="1" dirty="0">
                <a:solidFill>
                  <a:srgbClr val="FFFFFF"/>
                </a:solidFill>
                <a:latin typeface="Noto Sans CJK SC"/>
              </a:rPr>
              <a:t> + Codex </a:t>
            </a:r>
            <a:r>
              <a:rPr sz="2400" b="1" dirty="0" err="1">
                <a:solidFill>
                  <a:srgbClr val="FFFFFF"/>
                </a:solidFill>
                <a:latin typeface="Noto Sans CJK SC"/>
              </a:rPr>
              <a:t>协同实现</a:t>
            </a:r>
            <a:endParaRPr sz="2400" b="1" dirty="0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1920240" cy="2286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365760"/>
            <a:ext cx="64008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282"/>
                </a:solidFill>
                <a:latin typeface="Aptos"/>
              </a:rPr>
              <a:t>12</a:t>
            </a:r>
          </a:p>
        </p:txBody>
      </p:sp>
      <p:sp>
        <p:nvSpPr>
          <p:cNvPr id="9" name="Oval 8"/>
          <p:cNvSpPr/>
          <p:nvPr/>
        </p:nvSpPr>
        <p:spPr>
          <a:xfrm>
            <a:off x="4892040" y="2240280"/>
            <a:ext cx="2331720" cy="233172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257800" y="2606040"/>
            <a:ext cx="1600200" cy="160020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59936" y="2944038"/>
            <a:ext cx="3986784" cy="7346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dirty="0">
                <a:solidFill>
                  <a:srgbClr val="121212"/>
                </a:solidFill>
                <a:latin typeface="Noto Sans CJK SC"/>
              </a:rPr>
              <a:t>人</a:t>
            </a:r>
            <a:br>
              <a:rPr lang="en-US" sz="1500" b="1" dirty="0">
                <a:solidFill>
                  <a:srgbClr val="121212"/>
                </a:solidFill>
                <a:latin typeface="Noto Sans CJK SC"/>
              </a:rPr>
            </a:br>
            <a:br>
              <a:rPr lang="en-US" sz="1500" b="1" dirty="0">
                <a:solidFill>
                  <a:srgbClr val="121212"/>
                </a:solidFill>
                <a:latin typeface="Noto Sans CJK SC"/>
              </a:rPr>
            </a:br>
            <a:r>
              <a:rPr sz="1500" b="1" dirty="0" err="1">
                <a:solidFill>
                  <a:srgbClr val="121212"/>
                </a:solidFill>
                <a:latin typeface="Noto Sans CJK SC"/>
              </a:rPr>
              <a:t>负责目标与验收</a:t>
            </a:r>
            <a:endParaRPr sz="1500" b="1" dirty="0">
              <a:solidFill>
                <a:srgbClr val="121212"/>
              </a:solidFill>
              <a:latin typeface="Noto Sans CJK SC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2386901"/>
            <a:ext cx="3337560" cy="1874519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69848" y="2588069"/>
            <a:ext cx="237744" cy="237744"/>
          </a:xfrm>
          <a:prstGeom prst="ellipse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17319" y="2542349"/>
            <a:ext cx="2624328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FFFFFF"/>
                </a:solidFill>
                <a:latin typeface="Noto Sans CJK SC"/>
              </a:rPr>
              <a:t>网页 ChatGPT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917253"/>
            <a:ext cx="2926079" cy="388761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dirty="0" err="1">
                <a:solidFill>
                  <a:srgbClr val="B3B3B3"/>
                </a:solidFill>
                <a:latin typeface="Noto Sans CJK SC"/>
              </a:rPr>
              <a:t>读取压缩包与文档，梳理需求边界、系统架构、接口设计</a:t>
            </a:r>
            <a:r>
              <a:rPr lang="zh-CN" altLang="en-US" sz="1080" b="0" dirty="0">
                <a:solidFill>
                  <a:srgbClr val="B3B3B3"/>
                </a:solidFill>
                <a:latin typeface="Noto Sans CJK SC"/>
              </a:rPr>
              <a:t>和</a:t>
            </a:r>
            <a:r>
              <a:rPr sz="1080" b="0" dirty="0">
                <a:solidFill>
                  <a:srgbClr val="B3B3B3"/>
                </a:solidFill>
                <a:latin typeface="Noto Sans CJK SC"/>
              </a:rPr>
              <a:t> Codex </a:t>
            </a:r>
            <a:r>
              <a:rPr sz="1080" b="0" dirty="0" err="1">
                <a:solidFill>
                  <a:srgbClr val="B3B3B3"/>
                </a:solidFill>
                <a:latin typeface="Noto Sans CJK SC"/>
              </a:rPr>
              <a:t>提示词</a:t>
            </a:r>
            <a:r>
              <a:rPr sz="1080" b="0" dirty="0">
                <a:solidFill>
                  <a:srgbClr val="B3B3B3"/>
                </a:solidFill>
                <a:latin typeface="Noto Sans CJK SC"/>
              </a:rPr>
              <a:t>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443657"/>
            <a:ext cx="3337560" cy="1874519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02168" y="2644825"/>
            <a:ext cx="237744" cy="237744"/>
          </a:xfrm>
          <a:prstGeom prst="ellipse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2599105"/>
            <a:ext cx="2624328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FFFFFF"/>
                </a:solidFill>
                <a:latin typeface="Noto Sans CJK SC"/>
              </a:rPr>
              <a:t>Codex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2974009"/>
            <a:ext cx="2926079" cy="1216151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dirty="0" err="1">
                <a:solidFill>
                  <a:srgbClr val="B3B3B3"/>
                </a:solidFill>
                <a:latin typeface="Noto Sans CJK SC"/>
              </a:rPr>
              <a:t>进入代码仓库执行具体改动：新增模块、修改路由、修复报错、运行测试并形成可提交变更</a:t>
            </a:r>
            <a:r>
              <a:rPr sz="1080" b="0" dirty="0">
                <a:solidFill>
                  <a:srgbClr val="B3B3B3"/>
                </a:solidFill>
                <a:latin typeface="Noto Sans CJK SC"/>
              </a:rPr>
              <a:t>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5029200"/>
            <a:ext cx="10012680" cy="36576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78992" y="4727448"/>
            <a:ext cx="566928" cy="56692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8992" y="4873752"/>
            <a:ext cx="566928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21212"/>
                </a:solidFill>
                <a:latin typeface="Apto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1" y="5440680"/>
            <a:ext cx="1572768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Noto Sans CJK SC"/>
              </a:rPr>
              <a:t>需求拆解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1" y="5742432"/>
            <a:ext cx="1938528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80" b="0">
                <a:solidFill>
                  <a:srgbClr val="B3B3B3"/>
                </a:solidFill>
                <a:latin typeface="Noto Sans CJK SC"/>
              </a:rPr>
              <a:t>网页端明确功能与边界</a:t>
            </a:r>
          </a:p>
        </p:txBody>
      </p:sp>
      <p:sp>
        <p:nvSpPr>
          <p:cNvPr id="25" name="Oval 24"/>
          <p:cNvSpPr/>
          <p:nvPr/>
        </p:nvSpPr>
        <p:spPr>
          <a:xfrm>
            <a:off x="3566160" y="4727448"/>
            <a:ext cx="566928" cy="56692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66160" y="4873752"/>
            <a:ext cx="566928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21212"/>
                </a:solidFill>
                <a:latin typeface="Apto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5440680"/>
            <a:ext cx="1572768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Noto Sans CJK SC"/>
              </a:rPr>
              <a:t>提示词生成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5742432"/>
            <a:ext cx="1938528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80" b="0">
                <a:solidFill>
                  <a:srgbClr val="B3B3B3"/>
                </a:solidFill>
                <a:latin typeface="Noto Sans CJK SC"/>
              </a:rPr>
              <a:t>把任务拆成可执行修改</a:t>
            </a:r>
          </a:p>
        </p:txBody>
      </p:sp>
      <p:sp>
        <p:nvSpPr>
          <p:cNvPr id="29" name="Oval 28"/>
          <p:cNvSpPr/>
          <p:nvPr/>
        </p:nvSpPr>
        <p:spPr>
          <a:xfrm>
            <a:off x="6053328" y="4727448"/>
            <a:ext cx="566928" cy="566928"/>
          </a:xfrm>
          <a:prstGeom prst="ellipse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53328" y="4873752"/>
            <a:ext cx="566928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21212"/>
                </a:solidFill>
                <a:latin typeface="Apto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50408" y="5440680"/>
            <a:ext cx="1572768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Noto Sans CJK SC"/>
              </a:rPr>
              <a:t>仓库实现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67528" y="5742432"/>
            <a:ext cx="1938528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80" b="0">
                <a:solidFill>
                  <a:srgbClr val="B3B3B3"/>
                </a:solidFill>
                <a:latin typeface="Noto Sans CJK SC"/>
              </a:rPr>
              <a:t>Codex 按文件修改代码</a:t>
            </a:r>
          </a:p>
        </p:txBody>
      </p:sp>
      <p:sp>
        <p:nvSpPr>
          <p:cNvPr id="33" name="Oval 32"/>
          <p:cNvSpPr/>
          <p:nvPr/>
        </p:nvSpPr>
        <p:spPr>
          <a:xfrm>
            <a:off x="8540496" y="4727448"/>
            <a:ext cx="566928" cy="566928"/>
          </a:xfrm>
          <a:prstGeom prst="ellipse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40496" y="4873752"/>
            <a:ext cx="566928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21212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37575" y="5440680"/>
            <a:ext cx="1572768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Noto Sans CJK SC"/>
              </a:rPr>
              <a:t>本地验证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54696" y="5742432"/>
            <a:ext cx="1938528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80" b="0">
                <a:solidFill>
                  <a:srgbClr val="B3B3B3"/>
                </a:solidFill>
                <a:latin typeface="Noto Sans CJK SC"/>
              </a:rPr>
              <a:t>运行项目并收集日志</a:t>
            </a:r>
          </a:p>
        </p:txBody>
      </p:sp>
      <p:sp>
        <p:nvSpPr>
          <p:cNvPr id="37" name="Oval 36"/>
          <p:cNvSpPr/>
          <p:nvPr/>
        </p:nvSpPr>
        <p:spPr>
          <a:xfrm>
            <a:off x="11027664" y="4727448"/>
            <a:ext cx="566928" cy="56692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027664" y="4873752"/>
            <a:ext cx="566928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21212"/>
                </a:solidFill>
                <a:latin typeface="Apto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24744" y="5440680"/>
            <a:ext cx="1572768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Noto Sans CJK SC"/>
              </a:rPr>
              <a:t>反馈迭代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41864" y="5742432"/>
            <a:ext cx="1938528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80" b="0">
                <a:solidFill>
                  <a:srgbClr val="B3B3B3"/>
                </a:solidFill>
                <a:latin typeface="Noto Sans CJK SC"/>
              </a:rPr>
              <a:t>把报错回传继续修复</a:t>
            </a:r>
          </a:p>
        </p:txBody>
      </p:sp>
      <p:cxnSp>
        <p:nvCxnSpPr>
          <p:cNvPr id="41" name="Connector 40"/>
          <p:cNvCxnSpPr>
            <a:cxnSpLocks/>
          </p:cNvCxnSpPr>
          <p:nvPr/>
        </p:nvCxnSpPr>
        <p:spPr>
          <a:xfrm>
            <a:off x="4224528" y="3306014"/>
            <a:ext cx="626364" cy="0"/>
          </a:xfrm>
          <a:prstGeom prst="line">
            <a:avLst/>
          </a:prstGeom>
          <a:ln w="20320">
            <a:solidFill>
              <a:srgbClr val="1ED7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>
            <a:cxnSpLocks/>
          </p:cNvCxnSpPr>
          <p:nvPr/>
        </p:nvCxnSpPr>
        <p:spPr>
          <a:xfrm flipV="1">
            <a:off x="7264908" y="3306014"/>
            <a:ext cx="736091" cy="18146"/>
          </a:xfrm>
          <a:prstGeom prst="line">
            <a:avLst/>
          </a:prstGeom>
          <a:ln w="20320">
            <a:solidFill>
              <a:srgbClr val="1ED7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234440" y="1656956"/>
            <a:ext cx="9738360" cy="475488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234440" y="1638040"/>
            <a:ext cx="54864" cy="475488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458468" y="1658884"/>
            <a:ext cx="9189720" cy="668581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12000"/>
              </a:lnSpc>
            </a:pPr>
            <a:r>
              <a:rPr lang="zh-CN" altLang="en-US" sz="1280" b="1" dirty="0">
                <a:solidFill>
                  <a:srgbClr val="FFFFFF"/>
                </a:solidFill>
                <a:latin typeface="Noto Sans CJK SC"/>
              </a:rPr>
              <a:t>实践体会：</a:t>
            </a:r>
            <a:r>
              <a:rPr lang="en-US" altLang="zh-CN" sz="1280" b="1" dirty="0">
                <a:solidFill>
                  <a:srgbClr val="FFFFFF"/>
                </a:solidFill>
                <a:latin typeface="Noto Sans CJK SC"/>
              </a:rPr>
              <a:t>Vibe</a:t>
            </a:r>
            <a:r>
              <a:rPr lang="zh-CN" altLang="en-US" sz="1280" b="1" dirty="0">
                <a:solidFill>
                  <a:srgbClr val="FFFFFF"/>
                </a:solidFill>
                <a:latin typeface="Noto Sans CJK SC"/>
              </a:rPr>
              <a:t> </a:t>
            </a:r>
            <a:r>
              <a:rPr lang="en-US" altLang="zh-CN" sz="1280" b="1" dirty="0">
                <a:solidFill>
                  <a:srgbClr val="FFFFFF"/>
                </a:solidFill>
                <a:latin typeface="Noto Sans CJK SC"/>
              </a:rPr>
              <a:t>Coding </a:t>
            </a:r>
            <a:r>
              <a:rPr lang="zh-CN" altLang="en-US" sz="1280" b="1" dirty="0">
                <a:solidFill>
                  <a:srgbClr val="FFFFFF"/>
                </a:solidFill>
                <a:latin typeface="Noto Sans CJK SC"/>
              </a:rPr>
              <a:t>不是“让 </a:t>
            </a:r>
            <a:r>
              <a:rPr lang="en-US" altLang="zh-CN" sz="1280" b="1" dirty="0">
                <a:solidFill>
                  <a:srgbClr val="FFFFFF"/>
                </a:solidFill>
                <a:latin typeface="Noto Sans CJK SC"/>
              </a:rPr>
              <a:t>AI </a:t>
            </a:r>
            <a:r>
              <a:rPr lang="zh-CN" altLang="en-US" sz="1280" b="1" dirty="0">
                <a:solidFill>
                  <a:srgbClr val="FFFFFF"/>
                </a:solidFill>
                <a:latin typeface="Noto Sans CJK SC"/>
              </a:rPr>
              <a:t>自动完成全部项目”，</a:t>
            </a:r>
            <a:br>
              <a:rPr lang="en-US" altLang="zh-CN" sz="1280" b="1" dirty="0">
                <a:solidFill>
                  <a:srgbClr val="FFFFFF"/>
                </a:solidFill>
                <a:latin typeface="Noto Sans CJK SC"/>
              </a:rPr>
            </a:br>
            <a:r>
              <a:rPr lang="en-US" altLang="zh-CN" sz="1280" b="1" dirty="0">
                <a:solidFill>
                  <a:srgbClr val="FFFFFF"/>
                </a:solidFill>
                <a:latin typeface="Noto Sans CJK SC"/>
              </a:rPr>
              <a:t>                                                                                   </a:t>
            </a:r>
            <a:r>
              <a:rPr lang="zh-CN" altLang="en-US" sz="1280" b="1" dirty="0">
                <a:solidFill>
                  <a:srgbClr val="FFFFFF"/>
                </a:solidFill>
                <a:latin typeface="Noto Sans CJK SC"/>
              </a:rPr>
              <a:t>而是把人的审查能力、</a:t>
            </a:r>
            <a:r>
              <a:rPr lang="en-US" altLang="zh-CN" sz="1280" b="1" dirty="0">
                <a:solidFill>
                  <a:srgbClr val="FFFFFF"/>
                </a:solidFill>
                <a:latin typeface="Noto Sans CJK SC"/>
              </a:rPr>
              <a:t>ai</a:t>
            </a:r>
            <a:r>
              <a:rPr lang="zh-CN" altLang="en-US" sz="1280" b="1" dirty="0">
                <a:solidFill>
                  <a:srgbClr val="FFFFFF"/>
                </a:solidFill>
                <a:latin typeface="Noto Sans CJK SC"/>
              </a:rPr>
              <a:t>的规划能力和代码代理执行能力组合成持续迭代的工程流程</a:t>
            </a:r>
          </a:p>
          <a:p>
            <a:pPr algn="l">
              <a:lnSpc>
                <a:spcPct val="112000"/>
              </a:lnSpc>
            </a:pPr>
            <a:endParaRPr sz="1280" b="1" dirty="0">
              <a:solidFill>
                <a:srgbClr val="FFFFFF"/>
              </a:solidFill>
              <a:latin typeface="Noto Sans CJK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98480" y="-502920"/>
            <a:ext cx="2240280" cy="224028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5806440"/>
            <a:ext cx="1645920" cy="1645920"/>
          </a:xfrm>
          <a:prstGeom prst="ellipse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338328"/>
            <a:ext cx="210312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ED760"/>
                </a:solidFill>
                <a:latin typeface="Aptos"/>
              </a:rPr>
              <a:t>12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21792"/>
            <a:ext cx="8961120" cy="4572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Noto Sans CJK SC"/>
              </a:rPr>
              <a:t>项目完成情况与主要成果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1920240" cy="2286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365760"/>
            <a:ext cx="64008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282"/>
                </a:solidFill>
                <a:latin typeface="Aptos"/>
              </a:rPr>
              <a:t>13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1847088"/>
            <a:ext cx="530352" cy="530352"/>
          </a:xfrm>
          <a:prstGeom prst="ellipse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002536"/>
            <a:ext cx="530352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21212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8488" y="1883664"/>
            <a:ext cx="41148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Noto Sans CJK SC"/>
              </a:rPr>
              <a:t>产品路线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2267712"/>
            <a:ext cx="425196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3B3B3"/>
                </a:solidFill>
                <a:latin typeface="Noto Sans CJK SC"/>
              </a:rPr>
              <a:t>站内账号为核心，Spotify 为增强 Provider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0" y="1847088"/>
            <a:ext cx="530352" cy="530352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2002536"/>
            <a:ext cx="530352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21212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883664"/>
            <a:ext cx="41148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Noto Sans CJK SC"/>
              </a:rPr>
              <a:t>工程架构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2267712"/>
            <a:ext cx="425196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3B3B3"/>
                </a:solidFill>
                <a:latin typeface="Noto Sans CJK SC"/>
              </a:rPr>
              <a:t>React 前端 + Express 后端 + SQLite 持久化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447288"/>
            <a:ext cx="530352" cy="53035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602736"/>
            <a:ext cx="530352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21212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8488" y="3483864"/>
            <a:ext cx="41148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Noto Sans CJK SC"/>
              </a:rPr>
              <a:t>Agent 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8488" y="3867912"/>
            <a:ext cx="425196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3B3B3"/>
                </a:solidFill>
                <a:latin typeface="Noto Sans CJK SC"/>
              </a:rPr>
              <a:t>意图识别、工具调用、推荐生成、动作返回</a:t>
            </a:r>
          </a:p>
        </p:txBody>
      </p:sp>
      <p:sp>
        <p:nvSpPr>
          <p:cNvPr id="21" name="Oval 20"/>
          <p:cNvSpPr/>
          <p:nvPr/>
        </p:nvSpPr>
        <p:spPr>
          <a:xfrm>
            <a:off x="6217920" y="3447288"/>
            <a:ext cx="530352" cy="530352"/>
          </a:xfrm>
          <a:prstGeom prst="ellipse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3602736"/>
            <a:ext cx="530352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21212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3483864"/>
            <a:ext cx="41148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Noto Sans CJK SC"/>
              </a:rPr>
              <a:t>数据闭环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3867912"/>
            <a:ext cx="425196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3B3B3"/>
                </a:solidFill>
                <a:latin typeface="Noto Sans CJK SC"/>
              </a:rPr>
              <a:t>会话、推荐版本、反馈事件、播放行为可沉淀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" y="5413248"/>
            <a:ext cx="9966960" cy="64008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51560" y="5413248"/>
            <a:ext cx="54864" cy="64008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325880" y="5559552"/>
            <a:ext cx="9418320" cy="226409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zh-CN" altLang="en-US" sz="1280" b="1" dirty="0">
                <a:solidFill>
                  <a:srgbClr val="FFFFFF"/>
                </a:solidFill>
                <a:latin typeface="Arial Black" panose="020B0A04020102020204" pitchFamily="34" charset="0"/>
              </a:rPr>
              <a:t>阶段性结论：项目已经实现“可独立运行、可扩展 </a:t>
            </a:r>
            <a:r>
              <a:rPr lang="en-US" altLang="zh-CN" sz="1280" b="1" dirty="0">
                <a:solidFill>
                  <a:srgbClr val="FFFFFF"/>
                </a:solidFill>
                <a:latin typeface="Arial Black" panose="020B0A04020102020204" pitchFamily="34" charset="0"/>
              </a:rPr>
              <a:t>Provider</a:t>
            </a:r>
            <a:r>
              <a:rPr lang="zh-CN" altLang="en-US" sz="1280" b="1" dirty="0">
                <a:solidFill>
                  <a:srgbClr val="FFFFFF"/>
                </a:solidFill>
                <a:latin typeface="Arial Black" panose="020B0A04020102020204" pitchFamily="34" charset="0"/>
              </a:rPr>
              <a:t>、可沉淀用户记忆的音乐 </a:t>
            </a:r>
            <a:r>
              <a:rPr lang="en-US" altLang="zh-CN" sz="1280" b="1" dirty="0">
                <a:solidFill>
                  <a:srgbClr val="FFFFFF"/>
                </a:solidFill>
                <a:latin typeface="Arial Black" panose="020B0A04020102020204" pitchFamily="34" charset="0"/>
              </a:rPr>
              <a:t>Agent </a:t>
            </a:r>
            <a:r>
              <a:rPr lang="zh-CN" altLang="en-US" sz="1280" b="1" dirty="0">
                <a:solidFill>
                  <a:srgbClr val="FFFFFF"/>
                </a:solidFill>
                <a:latin typeface="Arial Black" panose="020B0A04020102020204" pitchFamily="34" charset="0"/>
              </a:rPr>
              <a:t>系统”。</a:t>
            </a:r>
            <a:endParaRPr sz="1280" b="1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080" y="6473952"/>
            <a:ext cx="292608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828282"/>
                </a:solidFill>
                <a:latin typeface="Noto Sans CJK SC"/>
              </a:rPr>
              <a:t>AgentMusic 课程项目答辩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91088" y="6473952"/>
            <a:ext cx="59436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282"/>
                </a:solidFill>
                <a:latin typeface="Aptos"/>
              </a:rPr>
              <a:t>13/14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98480" y="-502920"/>
            <a:ext cx="2240280" cy="224028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5806440"/>
            <a:ext cx="1645920" cy="1645920"/>
          </a:xfrm>
          <a:prstGeom prst="ellipse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338328"/>
            <a:ext cx="210312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ED760"/>
                </a:solidFill>
                <a:latin typeface="Aptos"/>
              </a:rPr>
              <a:t>13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21792"/>
            <a:ext cx="8961120" cy="4572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Noto Sans CJK SC"/>
              </a:rPr>
              <a:t>不足与后续优化方向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1920240" cy="2286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365760"/>
            <a:ext cx="64008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282"/>
                </a:solidFill>
                <a:latin typeface="Aptos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874519"/>
            <a:ext cx="3200400" cy="201168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69848" y="2075688"/>
            <a:ext cx="237744" cy="237744"/>
          </a:xfrm>
          <a:prstGeom prst="ellipse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17319" y="2029967"/>
            <a:ext cx="2487168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FFFFFF"/>
                </a:solidFill>
                <a:latin typeface="Noto Sans CJK SC"/>
              </a:rPr>
              <a:t>推荐质量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404872"/>
            <a:ext cx="2788920" cy="135331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dirty="0" err="1">
                <a:solidFill>
                  <a:srgbClr val="B3B3B3"/>
                </a:solidFill>
                <a:latin typeface="Noto Sans CJK SC"/>
              </a:rPr>
              <a:t>当前仍以规则与外部搜索为主，后续可加入站内行为向量、长期偏好摘要和离线评估指标</a:t>
            </a:r>
            <a:r>
              <a:rPr sz="1080" b="0" dirty="0">
                <a:solidFill>
                  <a:srgbClr val="B3B3B3"/>
                </a:solidFill>
                <a:latin typeface="Noto Sans CJK SC"/>
              </a:rPr>
              <a:t>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874519"/>
            <a:ext cx="3200400" cy="201168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681728" y="2075688"/>
            <a:ext cx="237744" cy="237744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0" y="2029967"/>
            <a:ext cx="2487168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FFFFFF"/>
                </a:solidFill>
                <a:latin typeface="Noto Sans CJK SC"/>
              </a:rPr>
              <a:t>音频来源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404872"/>
            <a:ext cx="2788920" cy="135331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B3B3B3"/>
                </a:solidFill>
                <a:latin typeface="Noto Sans CJK SC"/>
              </a:rPr>
              <a:t>Spotify preview_url 不稳定且非完整曲库，后续应完善本地音频导入、元数据解析和合规音源接入。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874519"/>
            <a:ext cx="3200400" cy="201168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93608" y="2075688"/>
            <a:ext cx="237744" cy="23774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41080" y="2029967"/>
            <a:ext cx="2487168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FFFFFF"/>
                </a:solidFill>
                <a:latin typeface="Noto Sans CJK SC"/>
              </a:rPr>
              <a:t>Agent 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404872"/>
            <a:ext cx="2788920" cy="135331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B3B3B3"/>
                </a:solidFill>
                <a:latin typeface="Noto Sans CJK SC"/>
              </a:rPr>
              <a:t>后续可强化工具调用追踪、失败回退、多轮澄清和复杂播放策略，提升可控性与稳定性。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83480"/>
            <a:ext cx="2743200" cy="5146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altLang="zh-CN" sz="3200" b="1" dirty="0">
                <a:solidFill>
                  <a:srgbClr val="FFFFFF"/>
                </a:solidFill>
                <a:latin typeface="Aptos"/>
              </a:rPr>
              <a:t>THANKS</a:t>
            </a:r>
            <a:endParaRPr sz="3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96112" y="5669280"/>
            <a:ext cx="3657600" cy="265329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dirty="0" err="1">
                <a:solidFill>
                  <a:srgbClr val="B3B3B3"/>
                </a:solidFill>
                <a:latin typeface="Noto Sans CJK SC"/>
              </a:rPr>
              <a:t>谢谢老师</a:t>
            </a:r>
            <a:endParaRPr sz="1600" b="0" dirty="0">
              <a:solidFill>
                <a:srgbClr val="B3B3B3"/>
              </a:solidFill>
              <a:latin typeface="Noto Sans CJK SC"/>
            </a:endParaRPr>
          </a:p>
        </p:txBody>
      </p:sp>
      <p:pic>
        <p:nvPicPr>
          <p:cNvPr id="23" name="Picture 22" descr="ap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754880"/>
            <a:ext cx="1325880" cy="1325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080" y="6473952"/>
            <a:ext cx="292608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828282"/>
                </a:solidFill>
                <a:latin typeface="Noto Sans CJK SC"/>
              </a:rPr>
              <a:t>AgentMusic 课程项目答辩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91088" y="6473952"/>
            <a:ext cx="59436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282"/>
                </a:solidFill>
                <a:latin typeface="Aptos"/>
              </a:rP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674</Words>
  <Application>Microsoft Office PowerPoint</Application>
  <PresentationFormat>宽屏</PresentationFormat>
  <Paragraphs>172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Aptos</vt:lpstr>
      <vt:lpstr>Noto Sans CJK SC</vt:lpstr>
      <vt:lpstr>Arial</vt:lpstr>
      <vt:lpstr>Arial Black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Bradley Wright</cp:lastModifiedBy>
  <cp:revision>5</cp:revision>
  <dcterms:created xsi:type="dcterms:W3CDTF">2013-01-27T09:14:16Z</dcterms:created>
  <dcterms:modified xsi:type="dcterms:W3CDTF">2026-06-25T11:40:21Z</dcterms:modified>
  <cp:category/>
</cp:coreProperties>
</file>